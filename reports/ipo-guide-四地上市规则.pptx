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/>
            </a:pPr>
            <a:r>
              <a:t>北上深港四地上市规则全攻略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投资人 · 被投企业 · 投行从业者必读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/>
            </a:pPr>
            <a:r>
              <a:t>目录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一、上海证券交易所主板</a:t>
            </a:r>
          </a:p>
          <a:p>
            <a:r>
              <a:t>二、上海证券交易所科创板</a:t>
            </a:r>
          </a:p>
          <a:p>
            <a:r>
              <a:t>三、深圳证券交易所创业板</a:t>
            </a:r>
          </a:p>
          <a:p>
            <a:r>
              <a:t>四、香港联交所主板</a:t>
            </a:r>
          </a:p>
          <a:p>
            <a:r>
              <a:t>五、四地对比分析</a:t>
            </a:r>
          </a:p>
          <a:p>
            <a:r>
              <a:t>六、上市流程全图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/>
            </a:pPr>
            <a:r>
              <a:t>一、上海证券交易所主板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法规依据：《上证发〔2025〕51号》《证监会令第205号》</a:t>
            </a:r>
          </a:p>
          <a:p/>
          <a:p>
            <a:r>
              <a:t>发行条件：</a:t>
            </a:r>
          </a:p>
          <a:p>
            <a:r>
              <a:t>• 持续经营满3年</a:t>
            </a:r>
          </a:p>
          <a:p>
            <a:r>
              <a:t>• 会计基础规范，内控制度健全</a:t>
            </a:r>
          </a:p>
          <a:p>
            <a:r>
              <a:t>• 业务完整，独立持续经营能力</a:t>
            </a:r>
          </a:p>
          <a:p>
            <a:r>
              <a:t>• 经营合法合规</a:t>
            </a:r>
          </a:p>
          <a:p/>
          <a:p>
            <a:r>
              <a:t>上市标准（三选一）：</a:t>
            </a:r>
          </a:p>
          <a:p>
            <a:r>
              <a:t>• 标准一：净利润3年累计≥2亿，营收≥15亿</a:t>
            </a:r>
          </a:p>
          <a:p>
            <a:r>
              <a:t>• 标准二：市值≥50亿，净利润为正，营收≥6亿</a:t>
            </a:r>
          </a:p>
          <a:p>
            <a:r>
              <a:t>• 标准三：市值≥100亿，净利润为正，营收≥10亿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/>
            </a:pPr>
            <a:r>
              <a:t>二、上海证券交易所科创板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法规依据：《上证发〔2025〕60号》《科创属性评价指引》</a:t>
            </a:r>
          </a:p>
          <a:p/>
          <a:p>
            <a:r>
              <a:t>科创板定位：</a:t>
            </a:r>
          </a:p>
          <a:p>
            <a:r>
              <a:t>• 新一代信息技术、高端装备、新材料</a:t>
            </a:r>
          </a:p>
          <a:p>
            <a:r>
              <a:t>• 新能源、生物医药、高端服务</a:t>
            </a:r>
          </a:p>
          <a:p>
            <a:r>
              <a:t>• 人工智能、量子科技、脑机接口等</a:t>
            </a:r>
          </a:p>
          <a:p/>
          <a:p>
            <a:r>
              <a:t>上市标准（五选一）：</a:t>
            </a:r>
          </a:p>
          <a:p>
            <a:r>
              <a:t>• 标准一：市值≥10亿，营收≥1亿</a:t>
            </a:r>
          </a:p>
          <a:p>
            <a:r>
              <a:t>• 标准二：市值≥15亿，研发累计≥5亿</a:t>
            </a:r>
          </a:p>
          <a:p>
            <a:r>
              <a:t>• 标准三：市值≥20亿，研发累计≥2亿，核心技术</a:t>
            </a:r>
          </a:p>
          <a:p>
            <a:r>
              <a:t>• 标准四：市值≥30亿，营收≥3亿</a:t>
            </a:r>
          </a:p>
          <a:p>
            <a:r>
              <a:t>• 标准五：市值≥40亿，营收≥5亿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/>
            </a:pPr>
            <a:r>
              <a:t>三、深圳证券交易所创业板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法规依据：《深证上〔2025〕394号》</a:t>
            </a:r>
          </a:p>
          <a:p/>
          <a:p>
            <a:r>
              <a:t>创业板定位：成长型创新创业企业</a:t>
            </a:r>
          </a:p>
          <a:p/>
          <a:p>
            <a:r>
              <a:t>负面清单：农林牧渔、采矿业、酒饮料、纺织业、</a:t>
            </a:r>
          </a:p>
          <a:p>
            <a:r>
              <a:t>         黑色金属、电力燃气、建筑业、批发零售等</a:t>
            </a:r>
          </a:p>
          <a:p/>
          <a:p>
            <a:r>
              <a:t>上市标准（四选一）：</a:t>
            </a:r>
          </a:p>
          <a:p>
            <a:r>
              <a:t>• 标准一：市值≥10亿，净利润2年累计≥1亿</a:t>
            </a:r>
          </a:p>
          <a:p>
            <a:r>
              <a:t>• 标准二：市值≥10亿，净利润为正，营收≥4亿</a:t>
            </a:r>
          </a:p>
          <a:p>
            <a:r>
              <a:t>• 标准三：市值≥30亿，营收≥6亿</a:t>
            </a:r>
          </a:p>
          <a:p>
            <a:r>
              <a:t>• 标准四：市值≥50亿，营收≥8亿（未盈利）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/>
            </a:pPr>
            <a:r>
              <a:t>四、香港联交所主板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法规依据：《主板上市规则》《公司条例》</a:t>
            </a:r>
          </a:p>
          <a:p/>
          <a:p>
            <a:r>
              <a:t>上市标准（三选一）：</a:t>
            </a:r>
          </a:p>
          <a:p>
            <a:r>
              <a:t>• 标准一：盈利≥5000万港币3年，市值≥5亿</a:t>
            </a:r>
          </a:p>
          <a:p>
            <a:r>
              <a:t>• 标准二：市值≥40亿，营收≥6亿，现金流≥1亿</a:t>
            </a:r>
          </a:p>
          <a:p>
            <a:r>
              <a:t>• 标准三：市值≥20亿，营收≥5亿，现金流≥1亿</a:t>
            </a:r>
          </a:p>
          <a:p/>
          <a:p>
            <a:r>
              <a:t>特殊途径：</a:t>
            </a:r>
          </a:p>
          <a:p>
            <a:r>
              <a:t>• 18A章：生物科技，核心产品通过一期临床</a:t>
            </a:r>
          </a:p>
          <a:p>
            <a:r>
              <a:t>• 18C章：特专科技，市值≥80亿</a:t>
            </a:r>
          </a:p>
          <a:p>
            <a:r>
              <a:t>• SPAC：特殊目的收购公司，最低集资10亿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/>
            </a:pPr>
            <a:r>
              <a:t>五、四地核心指标对比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财务指标对比：</a:t>
            </a:r>
          </a:p>
          <a:p>
            <a:r>
              <a:t>┌──────────┬────────┬───────┬──────┬────────┐</a:t>
            </a:r>
          </a:p>
          <a:p>
            <a:r>
              <a:t>│ 市场     │ 最低市值│ 盈利要求│ 营收 │ 未盈利 │</a:t>
            </a:r>
          </a:p>
          <a:p>
            <a:r>
              <a:t>├──────────┼────────┼───────┼──────┼────────┤</a:t>
            </a:r>
          </a:p>
          <a:p>
            <a:r>
              <a:t>│ 上交所主板│ 50亿   │ 3年2亿 │ 15亿 │  不支持│</a:t>
            </a:r>
          </a:p>
          <a:p>
            <a:r>
              <a:t>│ 科创板   │ 10亿   │ 1年正  │ 1亿  │  支持  │</a:t>
            </a:r>
          </a:p>
          <a:p>
            <a:r>
              <a:t>│ 创业板   │ 10亿   │ 2年1亿 │ 无   │  支持  │</a:t>
            </a:r>
          </a:p>
          <a:p>
            <a:r>
              <a:t>│ 港股主板 │ 5亿    │ 3年5千万│ 无   │  支持  │</a:t>
            </a:r>
          </a:p>
          <a:p>
            <a:r>
              <a:t>└──────────┴────────┴───────┴──────┴────────┘</a:t>
            </a:r>
          </a:p>
          <a:p/>
          <a:p>
            <a:r>
              <a:t>行业定位：</a:t>
            </a:r>
          </a:p>
          <a:p>
            <a:r>
              <a:t>• 主板：成熟大型企业</a:t>
            </a:r>
          </a:p>
          <a:p>
            <a:r>
              <a:t>• 科创板：科技创新</a:t>
            </a:r>
          </a:p>
          <a:p>
            <a:r>
              <a:t>• 创业板：成长型创新</a:t>
            </a:r>
          </a:p>
          <a:p>
            <a:r>
              <a:t>• 港股：国际化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/>
            </a:pPr>
            <a:r>
              <a:t>六、上市流程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A股流程（注册制）：</a:t>
            </a:r>
          </a:p>
          <a:p>
            <a:r>
              <a:t>1. 改制设立 → 2. 辅导验收(12月+) → 3. 申报审核</a:t>
            </a:r>
          </a:p>
          <a:p>
            <a:r>
              <a:t>4. 注册发行 → 5. 上市交易</a:t>
            </a:r>
          </a:p>
          <a:p>
            <a:r>
              <a:t>审核周期：3-12个月</a:t>
            </a:r>
          </a:p>
          <a:p/>
          <a:p>
            <a:r>
              <a:t>港股流程：</a:t>
            </a:r>
          </a:p>
          <a:p>
            <a:r>
              <a:t>1. 准备阶段 → 2. 审批(聆讯) → 3. 发行</a:t>
            </a:r>
          </a:p>
          <a:p>
            <a:r>
              <a:t>4. 上市交易</a:t>
            </a:r>
          </a:p>
          <a:p>
            <a:r>
              <a:t>审核周期：3-6个月</a:t>
            </a:r>
          </a:p>
          <a:p/>
          <a:p>
            <a:r>
              <a:t>关键时间：</a:t>
            </a:r>
          </a:p>
          <a:p>
            <a:r>
              <a:t>• A股：18-36个月</a:t>
            </a:r>
          </a:p>
          <a:p>
            <a:r>
              <a:t>• 港股：12-24个月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/>
            </a:pPr>
            <a:r>
              <a:t>七、实务建议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如何选择上市地？</a:t>
            </a:r>
          </a:p>
          <a:p/>
          <a:p>
            <a:r>
              <a:t>• 传统行业、盈利稳定 → 上交所主板</a:t>
            </a:r>
          </a:p>
          <a:p>
            <a:r>
              <a:t>• 科技创新、未盈利 → 科创板</a:t>
            </a:r>
          </a:p>
          <a:p>
            <a:r>
              <a:t>• 成长型、创新业态 → 深交所创业板</a:t>
            </a:r>
          </a:p>
          <a:p>
            <a:r>
              <a:t>• 国际化、美元基金 → 港交所主板</a:t>
            </a:r>
          </a:p>
          <a:p>
            <a:r>
              <a:t>• 生物医药早期 → 港交所18A</a:t>
            </a:r>
          </a:p>
          <a:p>
            <a:r>
              <a:t>• 特专科技 → 港交所18C</a:t>
            </a:r>
          </a:p>
          <a:p/>
          <a:p>
            <a:r>
              <a:t>注意事项：</a:t>
            </a:r>
          </a:p>
          <a:p>
            <a:r>
              <a:t>• A股：提前规划社保公积金合规</a:t>
            </a:r>
          </a:p>
          <a:p>
            <a:r>
              <a:t>• 港股：保荐人资质重要，国际路演成本高</a:t>
            </a:r>
          </a:p>
          <a:p>
            <a:r>
              <a:t>• 两地上市：可A+H同步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/>
            </a:pPr>
            <a:r>
              <a:t>附录：官方联系方式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资料来源：</a:t>
            </a:r>
          </a:p>
          <a:p/>
          <a:p>
            <a:r>
              <a:t>• 上海证券交易所：www.sse.com.cn</a:t>
            </a:r>
          </a:p>
          <a:p>
            <a:r>
              <a:t>• 深圳证券交易所：www.szse.cn</a:t>
            </a:r>
          </a:p>
          <a:p>
            <a:r>
              <a:t>• 香港联交所：www.hkex.com.hk</a:t>
            </a:r>
          </a:p>
          <a:p>
            <a:r>
              <a:t>• 中国证监会：www.csrc.gov.cn</a:t>
            </a:r>
          </a:p>
          <a:p/>
          <a:p>
            <a:r>
              <a:t>*本资料仅供参考，具体要求请以各交易所官方最新规则为准*</a:t>
            </a:r>
          </a:p>
          <a:p/>
          <a:p>
            <a:r>
              <a:t>编制日期：2026年3月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